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280160"/>
            <a:ext cx="73152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BURNOUT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5603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Linear Regression  |  End-to-End ML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R²: 0.747  </a:t>
            </a:r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MAE: 3.69  </a:t>
            </a:r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1,000 Employees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HR Analytics Division  | 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664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441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3218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3995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burnout is a strategic priority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0" cy="3566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$125B–$190B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burnout to US employers (Harvard Business Review)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9202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lack an early warning system to identify at-risk employees.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347472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1261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1521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14447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quantify individual burnout risk scores in real-time.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993392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993392"/>
            <a:ext cx="347472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236976" y="21579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048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it?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340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 into which factors drive burnout for this workforce.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9504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9504"/>
            <a:ext cx="347472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236976" y="3054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HR do?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2369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lack quantified expected impact — hard to prioritise.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785616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785616"/>
            <a:ext cx="347472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236976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act?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4133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approach means burnout is addressed only after attrition.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employee records with 12 workplace and lifestyle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572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61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9768" y="146998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20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51560"/>
            <a:ext cx="45720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61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46998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1051560"/>
            <a:ext cx="1920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1051560"/>
            <a:ext cx="45720" cy="8046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1161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90872" y="146998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11696" y="1051560"/>
            <a:ext cx="1920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051560"/>
            <a:ext cx="45720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821424" y="1161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21424" y="146998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359152"/>
            <a:ext cx="41148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 Hours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414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52.5 hrs/week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98064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52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1–10, avg 5.6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236976"/>
            <a:ext cx="41148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6.5 hrs/night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Hours/Week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5.1 hrs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14800"/>
            <a:ext cx="41148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169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Sent/Day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517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109 emails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553712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608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5176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0–100, avg 70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011680"/>
            <a:ext cx="4114800" cy="2615184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2121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burnout_risk_score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92040" y="2743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score  |  Range: 0–100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063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6.57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892040" y="3337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12280" y="3063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812280" y="3337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3611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9.46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4892040" y="3886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12280" y="3611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51.78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812280" y="3886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patterns, correlations, and multicollinearity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BURNOUT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16609" y="1353312"/>
            <a:ext cx="1526591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59409" y="13990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353312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9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Hrs/Week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05890" y="1883664"/>
            <a:ext cx="133731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948690" y="19293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883664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59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98041" y="2414016"/>
            <a:ext cx="1045159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240841" y="24597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-0.254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2414016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944368"/>
            <a:ext cx="1444295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233215" y="2990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944368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 Hours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3474720"/>
            <a:ext cx="133731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126230" y="35204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3474720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Emails/Day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4005072"/>
            <a:ext cx="1189177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3978097" y="40507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4005072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005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130759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1307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is right-skewed (median near 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187452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multicollinearity (VIF&lt;5)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244144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2441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is the #1 driver (r=+0.351)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3008376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30083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protects most (r=−0.371)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0" y="3575304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35753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employees at significant risk (&gt;25)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visualisation types generated  |  Shapiro-Wilk, Durbin-Watson, VIF tests passed  |  Full analysis in Jupyter Notebook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Visualisations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diagnostic charts generated across 10 visualization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 and multicollinearity detection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889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KDE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score is right-skewed — protective intervention needed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88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8892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51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Risk-category comparison across stress, sleep, and workload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88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2788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71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Regression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 relationships with burnout trend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88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26080"/>
            <a:ext cx="27889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971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Plot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3375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model coefficients showing direction and magnitude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7889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26080"/>
            <a:ext cx="278892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971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3375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burnout change under 5 HR interventions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preprocessing, feature engineering, and Linear Regression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45389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 (3×IQR) on 5 columns eliminates extreme outliers without data loss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9512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9512" y="145389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composite features: Work-Life Balance Index, Workload Index, Wellness Score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04872"/>
            <a:ext cx="347472" cy="3474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404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7157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stratified by burnout quartiles ensures balanced evaluation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1343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04872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9512" y="2404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9512" y="27157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normalised (mean=0, std=1) for coefficient comparability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7530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66744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3977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LinearRegression + statsmodels OLS for p-values and confidence intervals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57530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66744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Testing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9512" y="3977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Linearity, normality (Shapiro-Wilk), homoscedasticity, independence (Durbin-Watson=1.98)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predictive accuracy with stable cross-validation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659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 variance explained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05840"/>
            <a:ext cx="1965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42032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9568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Penalised for 15 features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05840"/>
            <a:ext cx="196596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18304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18304" y="19568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±3.7 pts average error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005840"/>
            <a:ext cx="1965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05840"/>
            <a:ext cx="196596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894576" y="1097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94576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94576" y="19568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542032"/>
            <a:ext cx="8595360" cy="2286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CROSS-VALIDATION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R²: 0.638 ± 0.037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performance across all 10 folds confirms generalisation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standard deviation (0.037) indicates no overfitting to training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TESTS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Linearity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via residuals vs. fitted plot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374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p&gt;0.05 — residuals normal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3803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Independence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Durbin-Watson = 1.98 — no autocorrelation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233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Homoscedasticity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Scale-location plot uniform across range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risk, what drives it, and what protects against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RISK SEGMENTATION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39776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502920" cy="7680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399032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00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0–10  |  Quarterly monitoring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39776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40280"/>
            <a:ext cx="502920" cy="7680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228600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2295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10–25  |  Workload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127248"/>
            <a:ext cx="39776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27248"/>
            <a:ext cx="502920" cy="76809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3172968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25–45  |  Manager intervention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014216"/>
            <a:ext cx="39776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14216"/>
            <a:ext cx="502920" cy="7680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4059936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361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&gt;45  |  Immediate HR 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&amp; PROTECTORS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35331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1444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Increases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0100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94767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 Hours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2039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Increases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01000" y="2039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4203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Emails/Day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Increases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0100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13639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Reduces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0100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73075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5488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Hours/Week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Reduces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01000" y="3822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432511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4416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Reduces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01000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 Plan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interventions with quantified expected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IMPACT SIMULATION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Stress −20%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344168"/>
            <a:ext cx="360045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279642" y="1371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Hours −10%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847088"/>
            <a:ext cx="2854642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5533835" y="1874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−11.1%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+10%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350008"/>
            <a:ext cx="1825943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05135" y="2377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−7.1%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+3h/wk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2852928"/>
            <a:ext cx="1723073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402265" y="2880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−6.7%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+1h/day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3355848"/>
            <a:ext cx="1491615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170807" y="3383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−5.8%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PLAN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298448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298448"/>
            <a:ext cx="10058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1325880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burnout model to score all employees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EAP + stress management program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139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~180 high-risk employees for HR outreach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56032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560320"/>
            <a:ext cx="10058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587752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2907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 work hours at 45/week (predicted −11%)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Subsidise gym memberships (predicted −6.7%)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Sleep hygiene campaign and flexible hours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822192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822192"/>
            <a:ext cx="10058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384962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41696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real-time burnout early warning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416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Retrain model every 6 months with new data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4663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 advanced ML models for better accuracy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an enterprise-grade burnout intelligence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153619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8132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1517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Lasso, Random Forest, XGBoost to capture non-linear interactions and improve R² beyond 0.75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153619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48132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13632" y="1517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933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burnout trajectories monthly. Predict which employees are trending toward risk.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153619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48132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39712" y="1517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9933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survey text, performance review sentiment, and communication pattern analysis as features.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53619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17296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172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87552" y="32095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6850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HRIS for automated monthly scoring and manager alerting with configurable risk thresholds.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743200" cy="153619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317296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3172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13632" y="32095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850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 analysis to measure true intervention ROI beyond correlational effects.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743200" cy="153619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317296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3172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39712" y="32095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Models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36850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role-specific models — burnout drivers differ between engineers, managers, and support.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identify burnout is before it happens. This system makes that possible.  — Deploy. Monitor. Iterate.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Burnout Risk Prediction System</dc:title>
  <dc:subject>PptxGenJS Presentation</dc:subject>
  <dc:creator>HR Analytics Team</dc:creator>
  <cp:lastModifiedBy>HR Analytics Team</cp:lastModifiedBy>
  <cp:revision>1</cp:revision>
  <dcterms:created xsi:type="dcterms:W3CDTF">2026-06-05T08:35:07Z</dcterms:created>
  <dcterms:modified xsi:type="dcterms:W3CDTF">2026-06-05T08:35:07Z</dcterms:modified>
</cp:coreProperties>
</file>